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Oswald Medium"/>
      <p:regular r:id="rId21"/>
      <p:bold r:id="rId22"/>
    </p:embeddedFont>
    <p:embeddedFont>
      <p:font typeface="Average"/>
      <p:regular r:id="rId23"/>
    </p:embeddedFont>
    <p:embeddedFont>
      <p:font typeface="Oswald"/>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OswaldMedium-bold.fntdata"/><Relationship Id="rId21" Type="http://schemas.openxmlformats.org/officeDocument/2006/relationships/font" Target="fonts/OswaldMedium-regular.fntdata"/><Relationship Id="rId24" Type="http://schemas.openxmlformats.org/officeDocument/2006/relationships/font" Target="fonts/Oswald-regular.fntdata"/><Relationship Id="rId23" Type="http://schemas.openxmlformats.org/officeDocument/2006/relationships/font" Target="fonts/Averag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Oswa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bgsu.edu/ncfmr/resources/data/family-profiles/loo-marriage-rate-US-geographic-variation-2022-fp-23-23.html#:~:text=After%20reaching%20a%20more%20than,marriages%20per%201%2C000%20unmarried%20women."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Jai</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007e6026c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007e6026c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investigated if there is correlation between the decline of </a:t>
            </a:r>
            <a:r>
              <a:rPr lang="en"/>
              <a:t>marriage</a:t>
            </a:r>
            <a:r>
              <a:rPr lang="en"/>
              <a:t> &amp; birth rates and financial instability</a:t>
            </a:r>
            <a:endParaRPr/>
          </a:p>
          <a:p>
            <a:pPr indent="0" lvl="0" marL="0" rtl="0" algn="l">
              <a:spcBef>
                <a:spcPts val="0"/>
              </a:spcBef>
              <a:spcAft>
                <a:spcPts val="0"/>
              </a:spcAft>
              <a:buNone/>
            </a:pPr>
            <a:r>
              <a:rPr lang="en"/>
              <a:t>Jai</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f6b112720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f6b112720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Jai</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09328dcb8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09328dcb8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Nya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089a42871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089a42871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Nya</a:t>
            </a:r>
            <a:endParaRPr/>
          </a:p>
          <a:p>
            <a:pPr indent="0" lvl="0" marL="0" rtl="0" algn="l">
              <a:spcBef>
                <a:spcPts val="0"/>
              </a:spcBef>
              <a:spcAft>
                <a:spcPts val="0"/>
              </a:spcAft>
              <a:buNone/>
            </a:pPr>
            <a:r>
              <a:rPr lang="en" u="sng">
                <a:solidFill>
                  <a:schemeClr val="hlink"/>
                </a:solidFill>
                <a:hlinkClick r:id="rId2"/>
              </a:rPr>
              <a:t>https://www.bgsu.edu/ncfmr/resources/data/family-profiles/loo-marriage-rate-US-geographic-variation-2022-fp-23-23.html#:~:text=After%20reaching%20a%20more%20than,marriages%20per%201%2C000%20unmarried%20women.</a:t>
            </a:r>
            <a:endParaRPr/>
          </a:p>
          <a:p>
            <a:pPr indent="-298450" lvl="0" marL="457200" rtl="0" algn="l">
              <a:lnSpc>
                <a:spcPct val="165000"/>
              </a:lnSpc>
              <a:spcBef>
                <a:spcPts val="0"/>
              </a:spcBef>
              <a:spcAft>
                <a:spcPts val="0"/>
              </a:spcAft>
              <a:buClr>
                <a:schemeClr val="dk1"/>
              </a:buClr>
              <a:buSzPts val="1100"/>
              <a:buChar char="●"/>
            </a:pPr>
            <a:r>
              <a:rPr lang="en"/>
              <a:t>After reaching a more than 50-year low rate in 2021 of 28.0 (i.e., 28 marriages per 1,000 unmarried women), the marriage rate trend reversed direction in 2022 increasing to 31.2 marriages per 1,000 unmarried women. The marriage rate has returned to the level observed in 2018 (Allred, 2019).</a:t>
            </a:r>
            <a:endParaRPr/>
          </a:p>
          <a:p>
            <a:pPr indent="-298450" lvl="0" marL="457200" rtl="0" algn="l">
              <a:lnSpc>
                <a:spcPct val="165000"/>
              </a:lnSpc>
              <a:spcBef>
                <a:spcPts val="0"/>
              </a:spcBef>
              <a:spcAft>
                <a:spcPts val="0"/>
              </a:spcAft>
              <a:buClr>
                <a:schemeClr val="dk1"/>
              </a:buClr>
              <a:buSzPts val="1100"/>
              <a:buChar char="●"/>
            </a:pPr>
            <a:r>
              <a:rPr lang="en"/>
              <a:t>More than 2 million women (2,322,727) married in 2022, which is an increase of 269,921 women from 2021 when 2,052,806 women married.</a:t>
            </a:r>
            <a:endParaRPr/>
          </a:p>
          <a:p>
            <a:pPr indent="0" lvl="0" marL="0" rtl="0" algn="l">
              <a:lnSpc>
                <a:spcPct val="115000"/>
              </a:lnSpc>
              <a:spcBef>
                <a:spcPts val="16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ff4505bf6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ff4505bf6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Jai</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005c42ba4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005c42ba4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Oluseyi</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007e6026c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007e6026c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Kason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00520e10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00520e10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Oluseyi - we used ages 18 - 60</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06dcbb3a7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06dcbb3a7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06dcbb3a7e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06dcbb3a7e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People reach their financial peak around their 30s, and are at their lowest in their 20s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06dcbb3a7e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06dcbb3a7e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06dcbb3a7e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06dcbb3a7e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From ages 18-50 New york data set NYA</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	1.	Married individuals who did not give birth in the past year had the highest average income, earning approximately $70,000 compared to other marital statuses.</a:t>
            </a:r>
            <a:endParaRPr/>
          </a:p>
          <a:p>
            <a:pPr indent="0" lvl="0" marL="0" rtl="0" algn="l">
              <a:lnSpc>
                <a:spcPct val="115000"/>
              </a:lnSpc>
              <a:spcBef>
                <a:spcPts val="0"/>
              </a:spcBef>
              <a:spcAft>
                <a:spcPts val="0"/>
              </a:spcAft>
              <a:buClr>
                <a:schemeClr val="dk1"/>
              </a:buClr>
              <a:buSzPts val="1100"/>
              <a:buFont typeface="Arial"/>
              <a:buNone/>
            </a:pPr>
            <a:r>
              <a:rPr lang="en"/>
              <a:t>	2.	Divorced individuals who gave birth in the past year had an income of around $40,000, which is lower compared to those who did not give birth.</a:t>
            </a:r>
            <a:endParaRPr/>
          </a:p>
          <a:p>
            <a:pPr indent="0" lvl="0" marL="0" rtl="0" algn="l">
              <a:lnSpc>
                <a:spcPct val="115000"/>
              </a:lnSpc>
              <a:spcBef>
                <a:spcPts val="0"/>
              </a:spcBef>
              <a:spcAft>
                <a:spcPts val="0"/>
              </a:spcAft>
              <a:buClr>
                <a:schemeClr val="dk1"/>
              </a:buClr>
              <a:buSzPts val="1100"/>
              <a:buFont typeface="Arial"/>
              <a:buNone/>
            </a:pPr>
            <a:r>
              <a:rPr lang="en"/>
              <a:t>	3.	Widowed individuals had a relatively consistent income across both childbirth categories, earning around $30,000-$35,000 regardless of whether they gave birth in the past year.</a:t>
            </a:r>
            <a:endParaRPr/>
          </a:p>
          <a:p>
            <a:pPr indent="0" lvl="0" marL="0" rtl="0" algn="l">
              <a:lnSpc>
                <a:spcPct val="115000"/>
              </a:lnSpc>
              <a:spcBef>
                <a:spcPts val="0"/>
              </a:spcBef>
              <a:spcAft>
                <a:spcPts val="0"/>
              </a:spcAft>
              <a:buClr>
                <a:schemeClr val="dk1"/>
              </a:buClr>
              <a:buSzPts val="1100"/>
              <a:buFont typeface="Arial"/>
              <a:buNone/>
            </a:pPr>
            <a:r>
              <a:rPr lang="en"/>
              <a:t>	4.	Separated individuals who did not give birth in the past year had an income of around $40,000, while those who gave birth earned slightly less, around $35,000.</a:t>
            </a:r>
            <a:endParaRPr/>
          </a:p>
          <a:p>
            <a:pPr indent="0" lvl="0" marL="0" rtl="0" algn="l">
              <a:lnSpc>
                <a:spcPct val="115000"/>
              </a:lnSpc>
              <a:spcBef>
                <a:spcPts val="0"/>
              </a:spcBef>
              <a:spcAft>
                <a:spcPts val="0"/>
              </a:spcAft>
              <a:buClr>
                <a:schemeClr val="dk1"/>
              </a:buClr>
              <a:buSzPts val="1100"/>
              <a:buFont typeface="Arial"/>
              <a:buNone/>
            </a:pPr>
            <a:r>
              <a:rPr lang="en"/>
              <a:t>	5.	Never married individuals earned less overall, with income close to $40,000 regardless of childbirth status.</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09bb65dc7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09bb65dc7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f6b112720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f6b112720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pewresearch.org/social-trends/2014/09/24/chapter-1-public-views-on-marriage/" TargetMode="External"/><Relationship Id="rId4" Type="http://schemas.openxmlformats.org/officeDocument/2006/relationships/hyperlink" Target="https://doi.org/10.15620/cdc/158789" TargetMode="External"/><Relationship Id="rId5" Type="http://schemas.openxmlformats.org/officeDocument/2006/relationships/hyperlink" Target="https://www.weforum.org/agenda/2018/11/what-upticks-in-u-s-economic-inequality-and-incarceration-mean-for-marriage/" TargetMode="External"/><Relationship Id="rId6" Type="http://schemas.openxmlformats.org/officeDocument/2006/relationships/hyperlink" Target="https://www.pewresearch.org/social-trends/2019/11/06/the-landscape-of-marriage-and-cohabitation-in-the-u-s/#:~:text=Over%20the%20past%20few%20decades%2C%20marriage%20rates%20have,these%20age%20groups%20were%2068%25%20and%2065%25%2C%20respectively" TargetMode="External"/><Relationship Id="rId7" Type="http://schemas.openxmlformats.org/officeDocument/2006/relationships/hyperlink" Target="https://www.census.gov/content/dam/Census/library/visualizations/time-series/demo/families-and-households/ms-2.pdf" TargetMode="External"/><Relationship Id="rId8" Type="http://schemas.openxmlformats.org/officeDocument/2006/relationships/hyperlink" Target="https://data.census.gov/mdat/#/search?ds=ACSPUMS5Y2022&amp;vv=AGEP(0,18:56)&amp;cv=MAR,MARHM,FER&amp;rv=SCHL,ucgid&amp;nv=POBP&amp;wt=PWGTP&amp;g=0400000US36,5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729750" y="102800"/>
            <a:ext cx="7684500" cy="1985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5200">
                <a:solidFill>
                  <a:srgbClr val="D9EAD3"/>
                </a:solidFill>
                <a:highlight>
                  <a:srgbClr val="6AA84F"/>
                </a:highlight>
              </a:rPr>
              <a:t>Relationships between Marriage/Birth Rates and Finance</a:t>
            </a:r>
            <a:endParaRPr sz="5200">
              <a:solidFill>
                <a:srgbClr val="D9EAD3"/>
              </a:solidFill>
              <a:highlight>
                <a:srgbClr val="6AA84F"/>
              </a:highlight>
            </a:endParaRPr>
          </a:p>
        </p:txBody>
      </p:sp>
      <p:sp>
        <p:nvSpPr>
          <p:cNvPr id="60" name="Google Shape;60;p13"/>
          <p:cNvSpPr txBox="1"/>
          <p:nvPr>
            <p:ph idx="1" type="subTitle"/>
          </p:nvPr>
        </p:nvSpPr>
        <p:spPr>
          <a:xfrm>
            <a:off x="630100" y="3963151"/>
            <a:ext cx="7801500" cy="7926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b="1" lang="en">
                <a:solidFill>
                  <a:srgbClr val="FFF2CC"/>
                </a:solidFill>
                <a:highlight>
                  <a:srgbClr val="6AA84F"/>
                </a:highlight>
              </a:rPr>
              <a:t>Marlis Vignon, Kason Carter, Nyajha Olive, Jaidel Chestnut, Oluseyi Kata</a:t>
            </a:r>
            <a:r>
              <a:rPr b="1" lang="en">
                <a:solidFill>
                  <a:srgbClr val="FFF2CC"/>
                </a:solidFill>
                <a:highlight>
                  <a:srgbClr val="6AA84F"/>
                </a:highlight>
              </a:rPr>
              <a:t>ye</a:t>
            </a:r>
            <a:endParaRPr b="1">
              <a:solidFill>
                <a:srgbClr val="FFF2CC"/>
              </a:solidFill>
              <a:highlight>
                <a:srgbClr val="6AA84F"/>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ctrTitle"/>
          </p:nvPr>
        </p:nvSpPr>
        <p:spPr>
          <a:xfrm>
            <a:off x="390725" y="445550"/>
            <a:ext cx="7924500" cy="185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6100"/>
              <a:t>          </a:t>
            </a:r>
            <a:r>
              <a:rPr lang="en"/>
              <a:t>  </a:t>
            </a:r>
            <a:r>
              <a:rPr lang="en"/>
              <a:t>Problem Statement</a:t>
            </a:r>
            <a:endParaRPr/>
          </a:p>
        </p:txBody>
      </p:sp>
      <p:sp>
        <p:nvSpPr>
          <p:cNvPr id="66" name="Google Shape;66;p14"/>
          <p:cNvSpPr txBox="1"/>
          <p:nvPr>
            <p:ph idx="1" type="subTitle"/>
          </p:nvPr>
        </p:nvSpPr>
        <p:spPr>
          <a:xfrm>
            <a:off x="543125" y="3597050"/>
            <a:ext cx="8217300" cy="899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We investigated if there is correlation between the decline of marriage &amp; birth rates and financial instability</a:t>
            </a:r>
            <a:endParaRPr/>
          </a:p>
          <a:p>
            <a:pPr indent="0" lvl="0" marL="0" rtl="0" algn="l">
              <a:lnSpc>
                <a:spcPct val="100000"/>
              </a:lnSpc>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Data/Analytic Questions</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    -</a:t>
            </a:r>
            <a:r>
              <a:rPr lang="en" sz="2200"/>
              <a:t> Question 1:  Which age group is most likely to be married ?</a:t>
            </a:r>
            <a:endParaRPr sz="2200"/>
          </a:p>
          <a:p>
            <a:pPr indent="0" lvl="0" marL="0" rtl="0" algn="l">
              <a:spcBef>
                <a:spcPts val="1200"/>
              </a:spcBef>
              <a:spcAft>
                <a:spcPts val="0"/>
              </a:spcAft>
              <a:buClr>
                <a:schemeClr val="dk1"/>
              </a:buClr>
              <a:buSzPts val="1100"/>
              <a:buFont typeface="Arial"/>
              <a:buNone/>
            </a:pPr>
            <a:r>
              <a:rPr lang="en" sz="2200"/>
              <a:t>    - Question 2: What age group has the highest income ?</a:t>
            </a:r>
            <a:endParaRPr sz="2200"/>
          </a:p>
          <a:p>
            <a:pPr indent="0" lvl="0" marL="0" rtl="0" algn="l">
              <a:spcBef>
                <a:spcPts val="1200"/>
              </a:spcBef>
              <a:spcAft>
                <a:spcPts val="0"/>
              </a:spcAft>
              <a:buClr>
                <a:schemeClr val="dk1"/>
              </a:buClr>
              <a:buSzPts val="1100"/>
              <a:buFont typeface="Arial"/>
              <a:buNone/>
            </a:pPr>
            <a:r>
              <a:rPr lang="en" sz="2200"/>
              <a:t>    </a:t>
            </a:r>
            <a:r>
              <a:rPr lang="en" sz="2200"/>
              <a:t>- Question 3: How do the differences in income relate to marriages  and birth trends?</a:t>
            </a:r>
            <a:endParaRPr sz="2200"/>
          </a:p>
          <a:p>
            <a:pPr indent="0" lvl="0" marL="0" rtl="0" algn="l">
              <a:spcBef>
                <a:spcPts val="1200"/>
              </a:spcBef>
              <a:spcAft>
                <a:spcPts val="0"/>
              </a:spcAft>
              <a:buClr>
                <a:schemeClr val="dk1"/>
              </a:buClr>
              <a:buSzPts val="1100"/>
              <a:buFont typeface="Arial"/>
              <a:buNone/>
            </a:pPr>
            <a:r>
              <a:t/>
            </a:r>
            <a:endParaRPr sz="2200"/>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292600" y="1081400"/>
            <a:ext cx="4018200" cy="269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Financial</a:t>
            </a:r>
            <a:r>
              <a:rPr lang="en"/>
              <a:t> Stability and Marriage Correlation</a:t>
            </a:r>
            <a:endParaRPr/>
          </a:p>
        </p:txBody>
      </p:sp>
      <p:sp>
        <p:nvSpPr>
          <p:cNvPr id="78" name="Google Shape;78;p16"/>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sz="1100">
                <a:solidFill>
                  <a:srgbClr val="000000"/>
                </a:solidFill>
                <a:latin typeface="Arial"/>
                <a:ea typeface="Arial"/>
                <a:cs typeface="Arial"/>
                <a:sym typeface="Arial"/>
              </a:rPr>
              <a:t>Marriage rates in the U.S. have been declining since the 1970s. In 2020, the U.S. marriage rate was about </a:t>
            </a:r>
            <a:r>
              <a:rPr b="1" lang="en" sz="1100">
                <a:solidFill>
                  <a:srgbClr val="000000"/>
                </a:solidFill>
                <a:latin typeface="Arial"/>
                <a:ea typeface="Arial"/>
                <a:cs typeface="Arial"/>
                <a:sym typeface="Arial"/>
              </a:rPr>
              <a:t>6.1 per 1,000 people</a:t>
            </a:r>
            <a:r>
              <a:rPr lang="en" sz="1100">
                <a:solidFill>
                  <a:srgbClr val="000000"/>
                </a:solidFill>
                <a:latin typeface="Arial"/>
                <a:ea typeface="Arial"/>
                <a:cs typeface="Arial"/>
                <a:sym typeface="Arial"/>
              </a:rPr>
              <a:t>, down from </a:t>
            </a:r>
            <a:r>
              <a:rPr b="1" lang="en" sz="1100">
                <a:solidFill>
                  <a:srgbClr val="000000"/>
                </a:solidFill>
                <a:latin typeface="Arial"/>
                <a:ea typeface="Arial"/>
                <a:cs typeface="Arial"/>
                <a:sym typeface="Arial"/>
              </a:rPr>
              <a:t>8.2 per 1,000 people</a:t>
            </a:r>
            <a:r>
              <a:rPr lang="en" sz="1100">
                <a:solidFill>
                  <a:srgbClr val="000000"/>
                </a:solidFill>
                <a:latin typeface="Arial"/>
                <a:ea typeface="Arial"/>
                <a:cs typeface="Arial"/>
                <a:sym typeface="Arial"/>
              </a:rPr>
              <a:t> in 2000.</a:t>
            </a:r>
            <a:endParaRPr sz="1100">
              <a:solidFill>
                <a:srgbClr val="000000"/>
              </a:solidFill>
              <a:latin typeface="Arial"/>
              <a:ea typeface="Arial"/>
              <a:cs typeface="Arial"/>
              <a:sym typeface="Arial"/>
            </a:endParaRPr>
          </a:p>
          <a:p>
            <a:pPr indent="0" lvl="0" marL="457200" rtl="0" algn="l">
              <a:spcBef>
                <a:spcPts val="1200"/>
              </a:spcBef>
              <a:spcAft>
                <a:spcPts val="0"/>
              </a:spcAft>
              <a:buNone/>
            </a:pPr>
            <a:r>
              <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Research shows that people with higher incomes are more likely to marry and remain married.</a:t>
            </a:r>
            <a:endParaRPr sz="1100">
              <a:solidFill>
                <a:srgbClr val="000000"/>
              </a:solidFill>
              <a:latin typeface="Arial"/>
              <a:ea typeface="Arial"/>
              <a:cs typeface="Arial"/>
              <a:sym typeface="Arial"/>
            </a:endParaRPr>
          </a:p>
          <a:p>
            <a:pPr indent="0" lvl="0" marL="457200" rtl="0" algn="l">
              <a:spcBef>
                <a:spcPts val="1200"/>
              </a:spcBef>
              <a:spcAft>
                <a:spcPts val="0"/>
              </a:spcAft>
              <a:buNone/>
            </a:pPr>
            <a:r>
              <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In 2015, 65% of adults aged 25 and older with a four-year college degree were married, compared to 55% of those with some college education and 50% of those whose highest education level was a high school diploma.</a:t>
            </a:r>
            <a:endParaRPr sz="11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7"/>
          <p:cNvPicPr preferRelativeResize="0"/>
          <p:nvPr/>
        </p:nvPicPr>
        <p:blipFill>
          <a:blip r:embed="rId3">
            <a:alphaModFix/>
          </a:blip>
          <a:stretch>
            <a:fillRect/>
          </a:stretch>
        </p:blipFill>
        <p:spPr>
          <a:xfrm>
            <a:off x="1123675" y="81087"/>
            <a:ext cx="6896648" cy="49813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
            </a:r>
            <a:r>
              <a:rPr lang="en"/>
              <a:t>escription of the ACS dataset</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935"/>
              <a:buNone/>
            </a:pPr>
            <a:r>
              <a:rPr lang="en" sz="1500"/>
              <a:t>Data Ingestion:Public Use Microdata Sample (PUMS) from the American Community Survey (ACS) 1-Year Estimates (2022)</a:t>
            </a:r>
            <a:endParaRPr sz="1500"/>
          </a:p>
          <a:p>
            <a:pPr indent="0" lvl="0" marL="0" rtl="0" algn="l">
              <a:lnSpc>
                <a:spcPct val="95000"/>
              </a:lnSpc>
              <a:spcBef>
                <a:spcPts val="1200"/>
              </a:spcBef>
              <a:spcAft>
                <a:spcPts val="0"/>
              </a:spcAft>
              <a:buSzPts val="935"/>
              <a:buNone/>
            </a:pPr>
            <a:r>
              <a:rPr lang="en" sz="1500"/>
              <a:t>Name: U.S. Census Bureau, the primary federal statistical agency responsible for collecting and producing data about the U.S. population and economy.</a:t>
            </a:r>
            <a:endParaRPr sz="1500"/>
          </a:p>
          <a:p>
            <a:pPr indent="0" lvl="0" marL="0" rtl="0" algn="l">
              <a:lnSpc>
                <a:spcPct val="95000"/>
              </a:lnSpc>
              <a:spcBef>
                <a:spcPts val="1200"/>
              </a:spcBef>
              <a:spcAft>
                <a:spcPts val="0"/>
              </a:spcAft>
              <a:buSzPts val="935"/>
              <a:buNone/>
            </a:pPr>
            <a:r>
              <a:rPr lang="en" sz="1500"/>
              <a:t>Data source overview: The ACS is a nationwide survey that collects data on social, economic, housing, and demographic characteristics of the U.S. population. It has been conducted annually since 2005, aimed at understanding the state of the nation’s population trends.</a:t>
            </a:r>
            <a:endParaRPr sz="1500"/>
          </a:p>
          <a:p>
            <a:pPr indent="0" lvl="0" marL="0" rtl="0" algn="l">
              <a:lnSpc>
                <a:spcPct val="95000"/>
              </a:lnSpc>
              <a:spcBef>
                <a:spcPts val="1200"/>
              </a:spcBef>
              <a:spcAft>
                <a:spcPts val="0"/>
              </a:spcAft>
              <a:buSzPts val="935"/>
              <a:buNone/>
            </a:pPr>
            <a:r>
              <a:rPr lang="en" sz="1500"/>
              <a:t>Years of data available:</a:t>
            </a:r>
            <a:r>
              <a:rPr lang="en" sz="1500"/>
              <a:t> 2005-2024</a:t>
            </a:r>
            <a:endParaRPr sz="1500"/>
          </a:p>
          <a:p>
            <a:pPr indent="0" lvl="0" marL="0" rtl="0" algn="l">
              <a:lnSpc>
                <a:spcPct val="95000"/>
              </a:lnSpc>
              <a:spcBef>
                <a:spcPts val="1200"/>
              </a:spcBef>
              <a:spcAft>
                <a:spcPts val="1200"/>
              </a:spcAft>
              <a:buSzPts val="935"/>
              <a:buNone/>
            </a:pPr>
            <a:r>
              <a:rPr lang="en" sz="1500"/>
              <a:t>Instance of data source: 2022 ACS 1-Year Estimates for Vermont and 2022 1-Year Estimates for New york</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700"/>
              <a:t>Specific Project Data Selection</a:t>
            </a:r>
            <a:endParaRPr sz="2700"/>
          </a:p>
        </p:txBody>
      </p:sp>
      <p:sp>
        <p:nvSpPr>
          <p:cNvPr id="95" name="Google Shape;95;p19"/>
          <p:cNvSpPr txBox="1"/>
          <p:nvPr>
            <p:ph idx="1" type="body"/>
          </p:nvPr>
        </p:nvSpPr>
        <p:spPr>
          <a:xfrm>
            <a:off x="80525" y="1017725"/>
            <a:ext cx="8520600" cy="39393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6800"/>
              <a:t> </a:t>
            </a:r>
            <a:r>
              <a:rPr b="1" lang="en" sz="6800"/>
              <a:t>  </a:t>
            </a:r>
            <a:r>
              <a:rPr b="1" lang="en" sz="6800"/>
              <a:t>We decided to look into the state of New York and Vermont</a:t>
            </a:r>
            <a:endParaRPr b="1" sz="6800"/>
          </a:p>
          <a:p>
            <a:pPr indent="-307975" lvl="2" marL="1371600" rtl="0" algn="l">
              <a:spcBef>
                <a:spcPts val="1200"/>
              </a:spcBef>
              <a:spcAft>
                <a:spcPts val="0"/>
              </a:spcAft>
              <a:buSzPct val="100000"/>
              <a:buChar char="●"/>
            </a:pPr>
            <a:r>
              <a:rPr lang="en" sz="5000"/>
              <a:t>Why: </a:t>
            </a:r>
            <a:r>
              <a:rPr lang="en" sz="4800"/>
              <a:t>New York has a wide range of salary levels so the high cost of living in the city could significantly impact marriage and birth rates. New York City’s cost of living is around </a:t>
            </a:r>
            <a:r>
              <a:rPr b="1" lang="en" sz="4800"/>
              <a:t>87.2% higher</a:t>
            </a:r>
            <a:r>
              <a:rPr lang="en" sz="4800"/>
              <a:t> than the national average, particularly in housing costs.</a:t>
            </a:r>
            <a:endParaRPr sz="4800"/>
          </a:p>
          <a:p>
            <a:pPr indent="-307975" lvl="2" marL="1371600" rtl="0" algn="l">
              <a:spcBef>
                <a:spcPts val="0"/>
              </a:spcBef>
              <a:spcAft>
                <a:spcPts val="0"/>
              </a:spcAft>
              <a:buSzPct val="100000"/>
              <a:buChar char="●"/>
            </a:pPr>
            <a:r>
              <a:rPr lang="en" sz="5000"/>
              <a:t>Ver</a:t>
            </a:r>
            <a:r>
              <a:rPr lang="en" sz="4800"/>
              <a:t>mont’s combination of rural population, aging demographics, moderate income, and high living costs provides a unique environment to study how financial instability affects marriage and birth rates.Vermont’s cost of living is </a:t>
            </a:r>
            <a:r>
              <a:rPr b="1" lang="en" sz="4800"/>
              <a:t>16.5% higher</a:t>
            </a:r>
            <a:r>
              <a:rPr lang="en" sz="4800"/>
              <a:t> than the national average, with higher housing and healthcare costs, though lower than New York’s costs, especially in rural areas.</a:t>
            </a:r>
            <a:endParaRPr sz="4800"/>
          </a:p>
          <a:p>
            <a:pPr indent="0" lvl="0" marL="0" rtl="0" algn="l">
              <a:spcBef>
                <a:spcPts val="1200"/>
              </a:spcBef>
              <a:spcAft>
                <a:spcPts val="0"/>
              </a:spcAft>
              <a:buNone/>
            </a:pPr>
            <a:r>
              <a:rPr b="1" lang="en" sz="5000"/>
              <a:t>   </a:t>
            </a:r>
            <a:r>
              <a:rPr b="1" lang="en" sz="7400"/>
              <a:t>For the year of data we decided to pick 2022</a:t>
            </a:r>
            <a:endParaRPr b="1" sz="7400"/>
          </a:p>
          <a:p>
            <a:pPr indent="-304800" lvl="0" marL="457200" marR="292100" rtl="0" algn="l">
              <a:lnSpc>
                <a:spcPct val="181250"/>
              </a:lnSpc>
              <a:spcBef>
                <a:spcPts val="1200"/>
              </a:spcBef>
              <a:spcAft>
                <a:spcPts val="0"/>
              </a:spcAft>
              <a:buSzPct val="100000"/>
              <a:buChar char="●"/>
            </a:pPr>
            <a:r>
              <a:rPr lang="en" sz="4800"/>
              <a:t> The year 2022 serves as an excellent choice for this project as it reflects significant socio-economic changes following the COVID-19 pandemic, which had a major effect on family finances, job situations, and household relationships. This time frame enables the examination of marriage and birth rates amid economic recovery, inflation, and changes in work environments, such as remote work, all of which have played a role in influencing personal choices regarding family planning. </a:t>
            </a:r>
            <a:endParaRPr sz="4800"/>
          </a:p>
          <a:p>
            <a:pPr indent="0" lvl="0" marL="0" rtl="0" algn="l">
              <a:spcBef>
                <a:spcPts val="0"/>
              </a:spcBef>
              <a:spcAft>
                <a:spcPts val="0"/>
              </a:spcAft>
              <a:buNone/>
            </a:pPr>
            <a:r>
              <a:t/>
            </a:r>
            <a:endParaRPr sz="4800"/>
          </a:p>
          <a:p>
            <a:pPr indent="0" lvl="0" marL="0" rtl="0" algn="l">
              <a:spcBef>
                <a:spcPts val="1200"/>
              </a:spcBef>
              <a:spcAft>
                <a:spcPts val="0"/>
              </a:spcAft>
              <a:buNone/>
            </a:pPr>
            <a:r>
              <a:rPr lang="en" sz="4800"/>
              <a:t> </a:t>
            </a:r>
            <a:endParaRPr sz="4800"/>
          </a:p>
          <a:p>
            <a:pPr indent="0" lvl="0" marL="1371600" rtl="0" algn="l">
              <a:spcBef>
                <a:spcPts val="1200"/>
              </a:spcBef>
              <a:spcAft>
                <a:spcPts val="0"/>
              </a:spcAft>
              <a:buNone/>
            </a:pPr>
            <a:r>
              <a:t/>
            </a:r>
            <a:endParaRPr/>
          </a:p>
          <a:p>
            <a:pPr indent="0" lvl="0" marL="91440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features included</a:t>
            </a:r>
            <a:endParaRPr/>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t>For our project on the Decline in Marriage and Birth Rates Due to Lack of Financial Stability here are the data features we decided to analyze</a:t>
            </a:r>
            <a:endParaRPr sz="1200"/>
          </a:p>
          <a:p>
            <a:pPr indent="-355600" lvl="0" marL="457200" rtl="0" algn="l">
              <a:spcBef>
                <a:spcPts val="1200"/>
              </a:spcBef>
              <a:spcAft>
                <a:spcPts val="0"/>
              </a:spcAft>
              <a:buSzPts val="2000"/>
              <a:buChar char="●"/>
            </a:pPr>
            <a:r>
              <a:rPr lang="en" sz="2000"/>
              <a:t>Marital</a:t>
            </a:r>
            <a:r>
              <a:rPr lang="en" sz="2000"/>
              <a:t> Status-Current marital status (married, single, divorced)</a:t>
            </a:r>
            <a:endParaRPr sz="2000"/>
          </a:p>
          <a:p>
            <a:pPr indent="-355600" lvl="0" marL="457200" rtl="0" algn="l">
              <a:spcBef>
                <a:spcPts val="0"/>
              </a:spcBef>
              <a:spcAft>
                <a:spcPts val="0"/>
              </a:spcAft>
              <a:buSzPts val="2000"/>
              <a:buChar char="●"/>
            </a:pPr>
            <a:r>
              <a:rPr lang="en" sz="2000"/>
              <a:t>Individual income-Average income for individuals or families</a:t>
            </a:r>
            <a:endParaRPr sz="2000"/>
          </a:p>
          <a:p>
            <a:pPr indent="-355600" lvl="0" marL="457200" rtl="0" algn="l">
              <a:spcBef>
                <a:spcPts val="0"/>
              </a:spcBef>
              <a:spcAft>
                <a:spcPts val="0"/>
              </a:spcAft>
              <a:buSzPts val="2000"/>
              <a:buChar char="●"/>
            </a:pPr>
            <a:r>
              <a:rPr lang="en" sz="2000"/>
              <a:t>Births within the past year</a:t>
            </a:r>
            <a:endParaRPr sz="2000"/>
          </a:p>
          <a:p>
            <a:pPr indent="-355600" lvl="0" marL="457200" rtl="0" algn="l">
              <a:spcBef>
                <a:spcPts val="0"/>
              </a:spcBef>
              <a:spcAft>
                <a:spcPts val="0"/>
              </a:spcAft>
              <a:buSzPts val="2000"/>
              <a:buChar char="●"/>
            </a:pPr>
            <a:r>
              <a:rPr lang="en" sz="2000"/>
              <a:t>Age </a:t>
            </a:r>
            <a:endParaRPr sz="2000"/>
          </a:p>
          <a:p>
            <a:pPr indent="0" lvl="0" marL="457200" rtl="0" algn="l">
              <a:spcBef>
                <a:spcPts val="1200"/>
              </a:spcBef>
              <a:spcAft>
                <a:spcPts val="1200"/>
              </a:spcAft>
              <a:buNone/>
            </a:pPr>
            <a:r>
              <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Wrangling</a:t>
            </a:r>
            <a:endParaRPr/>
          </a:p>
        </p:txBody>
      </p:sp>
      <p:sp>
        <p:nvSpPr>
          <p:cNvPr id="107" name="Google Shape;107;p21"/>
          <p:cNvSpPr txBox="1"/>
          <p:nvPr>
            <p:ph idx="1" type="body"/>
          </p:nvPr>
        </p:nvSpPr>
        <p:spPr>
          <a:xfrm>
            <a:off x="311700" y="1152475"/>
            <a:ext cx="8520600" cy="37512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935"/>
              <a:buNone/>
            </a:pPr>
            <a:r>
              <a:rPr b="1" lang="en" sz="1330"/>
              <a:t>Discovery</a:t>
            </a:r>
            <a:r>
              <a:rPr lang="en" sz="1330"/>
              <a:t>- We will be researching and recognizing the various factors such as the</a:t>
            </a:r>
            <a:r>
              <a:rPr lang="en" sz="1330"/>
              <a:t> varying income, ages, and how exactly that correlates to the decline in marriage and birth rates.</a:t>
            </a:r>
            <a:endParaRPr sz="1330"/>
          </a:p>
          <a:p>
            <a:pPr indent="0" lvl="0" marL="0" rtl="0" algn="l">
              <a:lnSpc>
                <a:spcPct val="95000"/>
              </a:lnSpc>
              <a:spcBef>
                <a:spcPts val="1200"/>
              </a:spcBef>
              <a:spcAft>
                <a:spcPts val="0"/>
              </a:spcAft>
              <a:buSzPts val="935"/>
              <a:buNone/>
            </a:pPr>
            <a:r>
              <a:rPr b="1" lang="en" sz="1330"/>
              <a:t>Cleaning</a:t>
            </a:r>
            <a:r>
              <a:rPr lang="en" sz="1330"/>
              <a:t>- We might have to sort/discard some related data that might muddle our analysis.</a:t>
            </a:r>
            <a:endParaRPr sz="1330"/>
          </a:p>
          <a:p>
            <a:pPr indent="0" lvl="0" marL="0" rtl="0" algn="l">
              <a:lnSpc>
                <a:spcPct val="95000"/>
              </a:lnSpc>
              <a:spcBef>
                <a:spcPts val="1200"/>
              </a:spcBef>
              <a:spcAft>
                <a:spcPts val="0"/>
              </a:spcAft>
              <a:buSzPts val="935"/>
              <a:buNone/>
            </a:pPr>
            <a:r>
              <a:rPr b="1" lang="en" sz="1330"/>
              <a:t>Validating</a:t>
            </a:r>
            <a:r>
              <a:rPr lang="en" sz="1330"/>
              <a:t>- Making sure the data we have and collect for Vermont is consistent and viable with our points.</a:t>
            </a:r>
            <a:endParaRPr sz="1330"/>
          </a:p>
          <a:p>
            <a:pPr indent="0" lvl="0" marL="0" rtl="0" algn="l">
              <a:lnSpc>
                <a:spcPct val="95000"/>
              </a:lnSpc>
              <a:spcBef>
                <a:spcPts val="1200"/>
              </a:spcBef>
              <a:spcAft>
                <a:spcPts val="0"/>
              </a:spcAft>
              <a:buSzPts val="935"/>
              <a:buNone/>
            </a:pPr>
            <a:r>
              <a:rPr lang="en" sz="1330"/>
              <a:t>We have and will be using and finding varying datasets from the ACS such as:</a:t>
            </a:r>
            <a:endParaRPr sz="1330"/>
          </a:p>
          <a:p>
            <a:pPr indent="-313055" lvl="0" marL="457200" rtl="0" algn="l">
              <a:lnSpc>
                <a:spcPct val="95000"/>
              </a:lnSpc>
              <a:spcBef>
                <a:spcPts val="1200"/>
              </a:spcBef>
              <a:spcAft>
                <a:spcPts val="0"/>
              </a:spcAft>
              <a:buSzPts val="1330"/>
              <a:buChar char="●"/>
            </a:pPr>
            <a:r>
              <a:rPr b="1" lang="en" sz="1330"/>
              <a:t>ACS 1-Year Estimates Public Use Microdata Sample 2022</a:t>
            </a:r>
            <a:endParaRPr b="1" sz="1330"/>
          </a:p>
          <a:p>
            <a:pPr indent="0" lvl="0" marL="0" rtl="0" algn="l">
              <a:lnSpc>
                <a:spcPct val="95000"/>
              </a:lnSpc>
              <a:spcBef>
                <a:spcPts val="1200"/>
              </a:spcBef>
              <a:spcAft>
                <a:spcPts val="0"/>
              </a:spcAft>
              <a:buSzPts val="935"/>
              <a:buNone/>
            </a:pPr>
            <a:r>
              <a:rPr lang="en" sz="1330"/>
              <a:t>For our research on the stats of birth and marriage rates.</a:t>
            </a:r>
            <a:endParaRPr sz="1330"/>
          </a:p>
          <a:p>
            <a:pPr indent="0" lvl="0" marL="0" rtl="0" algn="l">
              <a:lnSpc>
                <a:spcPct val="95000"/>
              </a:lnSpc>
              <a:spcBef>
                <a:spcPts val="1200"/>
              </a:spcBef>
              <a:spcAft>
                <a:spcPts val="1200"/>
              </a:spcAft>
              <a:buSzPts val="935"/>
              <a:buNone/>
            </a:pPr>
            <a:r>
              <a:rPr b="1" lang="en" sz="1330"/>
              <a:t>Feature Engineering/Transformation</a:t>
            </a:r>
            <a:r>
              <a:rPr lang="en" sz="1330"/>
              <a:t>- As we ran into some problems regarding many blanks and zeros in the data, we created categories for age, financial status and income out of the PUMS data categories such as AGEP - age, PINCP - income, FER - birth rates, MAR - marriage status</a:t>
            </a:r>
            <a:endParaRPr sz="133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nvSpPr>
        <p:spPr>
          <a:xfrm>
            <a:off x="2109825" y="409675"/>
            <a:ext cx="4516800" cy="82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accent3"/>
                </a:solidFill>
                <a:latin typeface="Average"/>
                <a:ea typeface="Average"/>
                <a:cs typeface="Average"/>
                <a:sym typeface="Average"/>
              </a:rPr>
              <a:t>Age Groups and Marriage</a:t>
            </a:r>
            <a:endParaRPr sz="3000">
              <a:solidFill>
                <a:schemeClr val="accent3"/>
              </a:solidFill>
              <a:latin typeface="Average"/>
              <a:ea typeface="Average"/>
              <a:cs typeface="Average"/>
              <a:sym typeface="Average"/>
            </a:endParaRPr>
          </a:p>
        </p:txBody>
      </p:sp>
      <p:pic>
        <p:nvPicPr>
          <p:cNvPr id="113" name="Google Shape;113;p22"/>
          <p:cNvPicPr preferRelativeResize="0"/>
          <p:nvPr/>
        </p:nvPicPr>
        <p:blipFill>
          <a:blip r:embed="rId3">
            <a:alphaModFix/>
          </a:blip>
          <a:stretch>
            <a:fillRect/>
          </a:stretch>
        </p:blipFill>
        <p:spPr>
          <a:xfrm>
            <a:off x="790575" y="1566863"/>
            <a:ext cx="7562850" cy="2009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3"/>
          <p:cNvPicPr preferRelativeResize="0"/>
          <p:nvPr/>
        </p:nvPicPr>
        <p:blipFill>
          <a:blip r:embed="rId3">
            <a:alphaModFix/>
          </a:blip>
          <a:stretch>
            <a:fillRect/>
          </a:stretch>
        </p:blipFill>
        <p:spPr>
          <a:xfrm>
            <a:off x="1275600" y="152400"/>
            <a:ext cx="6681613" cy="4838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nvSpPr>
        <p:spPr>
          <a:xfrm>
            <a:off x="7870525" y="2926625"/>
            <a:ext cx="939300" cy="9705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t/>
            </a:r>
            <a:endParaRPr sz="900">
              <a:solidFill>
                <a:srgbClr val="38761D"/>
              </a:solidFill>
              <a:latin typeface="Average"/>
              <a:ea typeface="Average"/>
              <a:cs typeface="Average"/>
              <a:sym typeface="Average"/>
            </a:endParaRPr>
          </a:p>
        </p:txBody>
      </p:sp>
      <p:sp>
        <p:nvSpPr>
          <p:cNvPr id="129" name="Google Shape;129;p25"/>
          <p:cNvSpPr txBox="1"/>
          <p:nvPr/>
        </p:nvSpPr>
        <p:spPr>
          <a:xfrm>
            <a:off x="7635850" y="1984375"/>
            <a:ext cx="1036800" cy="40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Oswald Medium"/>
                <a:ea typeface="Oswald Medium"/>
                <a:cs typeface="Oswald Medium"/>
                <a:sym typeface="Oswald Medium"/>
              </a:rPr>
              <a:t> </a:t>
            </a:r>
            <a:endParaRPr sz="1800">
              <a:latin typeface="Oswald Medium"/>
              <a:ea typeface="Oswald Medium"/>
              <a:cs typeface="Oswald Medium"/>
              <a:sym typeface="Oswald Medium"/>
            </a:endParaRPr>
          </a:p>
        </p:txBody>
      </p:sp>
      <p:pic>
        <p:nvPicPr>
          <p:cNvPr id="130" name="Google Shape;130;p25"/>
          <p:cNvPicPr preferRelativeResize="0"/>
          <p:nvPr/>
        </p:nvPicPr>
        <p:blipFill>
          <a:blip r:embed="rId3">
            <a:alphaModFix/>
          </a:blip>
          <a:stretch>
            <a:fillRect/>
          </a:stretch>
        </p:blipFill>
        <p:spPr>
          <a:xfrm>
            <a:off x="337700" y="214725"/>
            <a:ext cx="6848415" cy="4838699"/>
          </a:xfrm>
          <a:prstGeom prst="rect">
            <a:avLst/>
          </a:prstGeom>
          <a:noFill/>
          <a:ln>
            <a:noFill/>
          </a:ln>
        </p:spPr>
      </p:pic>
      <p:sp>
        <p:nvSpPr>
          <p:cNvPr id="131" name="Google Shape;131;p25"/>
          <p:cNvSpPr txBox="1"/>
          <p:nvPr/>
        </p:nvSpPr>
        <p:spPr>
          <a:xfrm>
            <a:off x="7310050" y="214725"/>
            <a:ext cx="1688400" cy="406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Average"/>
                <a:ea typeface="Average"/>
                <a:cs typeface="Average"/>
                <a:sym typeface="Average"/>
              </a:rPr>
              <a:t>**People who are married, both those who have given birth and not, have higher amounts of income </a:t>
            </a:r>
            <a:endParaRPr sz="1800">
              <a:solidFill>
                <a:schemeClr val="accent3"/>
              </a:solidFill>
              <a:latin typeface="Average"/>
              <a:ea typeface="Average"/>
              <a:cs typeface="Average"/>
              <a:sym typeface="Average"/>
            </a:endParaRPr>
          </a:p>
          <a:p>
            <a:pPr indent="0" lvl="0" marL="0" rtl="0" algn="l">
              <a:spcBef>
                <a:spcPts val="0"/>
              </a:spcBef>
              <a:spcAft>
                <a:spcPts val="0"/>
              </a:spcAft>
              <a:buNone/>
            </a:pPr>
            <a:r>
              <a:t/>
            </a:r>
            <a:endParaRPr sz="1800">
              <a:solidFill>
                <a:schemeClr val="accent3"/>
              </a:solidFill>
              <a:latin typeface="Average"/>
              <a:ea typeface="Average"/>
              <a:cs typeface="Average"/>
              <a:sym typeface="Average"/>
            </a:endParaRPr>
          </a:p>
          <a:p>
            <a:pPr indent="0" lvl="0" marL="0" rtl="0" algn="l">
              <a:spcBef>
                <a:spcPts val="0"/>
              </a:spcBef>
              <a:spcAft>
                <a:spcPts val="0"/>
              </a:spcAft>
              <a:buNone/>
            </a:pPr>
            <a:r>
              <a:rPr lang="en" sz="1800">
                <a:solidFill>
                  <a:schemeClr val="accent3"/>
                </a:solidFill>
                <a:latin typeface="Average"/>
                <a:ea typeface="Average"/>
                <a:cs typeface="Average"/>
                <a:sym typeface="Average"/>
              </a:rPr>
              <a:t>**The amount of people who have recently gave birth have lower income</a:t>
            </a:r>
            <a:endParaRPr sz="1800">
              <a:solidFill>
                <a:schemeClr val="accent3"/>
              </a:solidFill>
              <a:latin typeface="Average"/>
              <a:ea typeface="Average"/>
              <a:cs typeface="Average"/>
              <a:sym typeface="Averag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Insights/Challenges/Outlook</a:t>
            </a:r>
            <a:endParaRPr/>
          </a:p>
        </p:txBody>
      </p:sp>
      <p:sp>
        <p:nvSpPr>
          <p:cNvPr id="137" name="Google Shape;137;p26"/>
          <p:cNvSpPr txBox="1"/>
          <p:nvPr>
            <p:ph idx="1" type="body"/>
          </p:nvPr>
        </p:nvSpPr>
        <p:spPr>
          <a:xfrm>
            <a:off x="311700" y="1152475"/>
            <a:ext cx="3999900" cy="3729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791"/>
              <a:t>Data insights are the</a:t>
            </a:r>
            <a:endParaRPr sz="1900"/>
          </a:p>
          <a:p>
            <a:pPr indent="-349250" lvl="0" marL="457200" rtl="0" algn="l">
              <a:spcBef>
                <a:spcPts val="1200"/>
              </a:spcBef>
              <a:spcAft>
                <a:spcPts val="0"/>
              </a:spcAft>
              <a:buSzPts val="1900"/>
              <a:buChar char="●"/>
            </a:pPr>
            <a:r>
              <a:rPr lang="en" sz="1900"/>
              <a:t>Impact </a:t>
            </a:r>
            <a:r>
              <a:rPr lang="en" sz="1900"/>
              <a:t>disparity</a:t>
            </a:r>
            <a:r>
              <a:rPr lang="en" sz="1900"/>
              <a:t> based on marriage status and childbirth categories</a:t>
            </a:r>
            <a:endParaRPr sz="1900"/>
          </a:p>
          <a:p>
            <a:pPr indent="-349250" lvl="0" marL="457200" rtl="0" algn="l">
              <a:spcBef>
                <a:spcPts val="0"/>
              </a:spcBef>
              <a:spcAft>
                <a:spcPts val="0"/>
              </a:spcAft>
              <a:buSzPts val="1900"/>
              <a:buChar char="●"/>
            </a:pPr>
            <a:r>
              <a:rPr lang="en" sz="1900"/>
              <a:t>Impact of </a:t>
            </a:r>
            <a:r>
              <a:rPr lang="en" sz="1900"/>
              <a:t>childbirth</a:t>
            </a:r>
            <a:r>
              <a:rPr lang="en" sz="1900"/>
              <a:t> on income</a:t>
            </a:r>
            <a:endParaRPr sz="1900"/>
          </a:p>
          <a:p>
            <a:pPr indent="-349250" lvl="0" marL="457200" rtl="0" algn="l">
              <a:spcBef>
                <a:spcPts val="0"/>
              </a:spcBef>
              <a:spcAft>
                <a:spcPts val="0"/>
              </a:spcAft>
              <a:buSzPts val="1900"/>
              <a:buChar char="●"/>
            </a:pPr>
            <a:r>
              <a:rPr lang="en" sz="1900"/>
              <a:t>The </a:t>
            </a:r>
            <a:r>
              <a:rPr lang="en" sz="1900"/>
              <a:t>financial</a:t>
            </a:r>
            <a:r>
              <a:rPr lang="en" sz="1900"/>
              <a:t> disadvantage of being unmarried/ Those who are married have higher income</a:t>
            </a:r>
            <a:endParaRPr sz="1900"/>
          </a:p>
          <a:p>
            <a:pPr indent="-349250" lvl="0" marL="457200" rtl="0" algn="l">
              <a:spcBef>
                <a:spcPts val="0"/>
              </a:spcBef>
              <a:spcAft>
                <a:spcPts val="0"/>
              </a:spcAft>
              <a:buSzPts val="1900"/>
              <a:buChar char="●"/>
            </a:pPr>
            <a:r>
              <a:rPr lang="en" sz="1900"/>
              <a:t>People in their 30’s are more likely to reach their </a:t>
            </a:r>
            <a:r>
              <a:rPr lang="en" sz="1900"/>
              <a:t>financial</a:t>
            </a:r>
            <a:r>
              <a:rPr lang="en" sz="1900"/>
              <a:t> peak in income.</a:t>
            </a:r>
            <a:endParaRPr sz="1900"/>
          </a:p>
        </p:txBody>
      </p:sp>
      <p:sp>
        <p:nvSpPr>
          <p:cNvPr id="138" name="Google Shape;138;p26"/>
          <p:cNvSpPr txBox="1"/>
          <p:nvPr>
            <p:ph idx="2" type="body"/>
          </p:nvPr>
        </p:nvSpPr>
        <p:spPr>
          <a:xfrm>
            <a:off x="4781400" y="1152475"/>
            <a:ext cx="4050900" cy="16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2200"/>
              <a:t>C</a:t>
            </a:r>
            <a:r>
              <a:rPr lang="en" sz="2200"/>
              <a:t>hallenges</a:t>
            </a:r>
            <a:r>
              <a:rPr lang="en" sz="2200"/>
              <a:t> would be</a:t>
            </a:r>
            <a:endParaRPr sz="2200"/>
          </a:p>
          <a:p>
            <a:pPr indent="-357822" lvl="0" marL="457200" rtl="0" algn="l">
              <a:spcBef>
                <a:spcPts val="1200"/>
              </a:spcBef>
              <a:spcAft>
                <a:spcPts val="0"/>
              </a:spcAft>
              <a:buSzPct val="100000"/>
              <a:buChar char="●"/>
            </a:pPr>
            <a:r>
              <a:rPr lang="en" sz="2200"/>
              <a:t>Missing data and categories </a:t>
            </a:r>
            <a:endParaRPr sz="2200"/>
          </a:p>
          <a:p>
            <a:pPr indent="-357822" lvl="0" marL="457200" rtl="0" algn="l">
              <a:spcBef>
                <a:spcPts val="0"/>
              </a:spcBef>
              <a:spcAft>
                <a:spcPts val="0"/>
              </a:spcAft>
              <a:buSzPct val="100000"/>
              <a:buChar char="●"/>
            </a:pPr>
            <a:r>
              <a:rPr lang="en" sz="2200"/>
              <a:t>Correlation vs Causation</a:t>
            </a:r>
            <a:endParaRPr sz="2200"/>
          </a:p>
          <a:p>
            <a:pPr indent="0" lvl="0" marL="457200" rtl="0" algn="l">
              <a:spcBef>
                <a:spcPts val="1200"/>
              </a:spcBef>
              <a:spcAft>
                <a:spcPts val="1200"/>
              </a:spcAft>
              <a:buNone/>
            </a:pPr>
            <a:r>
              <a:t/>
            </a:r>
            <a:endParaRPr sz="1800"/>
          </a:p>
        </p:txBody>
      </p:sp>
      <p:sp>
        <p:nvSpPr>
          <p:cNvPr id="139" name="Google Shape;139;p26"/>
          <p:cNvSpPr txBox="1"/>
          <p:nvPr/>
        </p:nvSpPr>
        <p:spPr>
          <a:xfrm>
            <a:off x="4655700" y="2508950"/>
            <a:ext cx="4176600" cy="237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Average"/>
                <a:ea typeface="Average"/>
                <a:cs typeface="Average"/>
                <a:sym typeface="Average"/>
              </a:rPr>
              <a:t>In the future we would  research the role of gender and career progression in shaping the financial impact of childbirth and marriage, as well as the long-term economic effects of raising children. These insights could inform future policies aimed at reversing the decline in marriage and birth rates.</a:t>
            </a:r>
            <a:endParaRPr sz="1800">
              <a:solidFill>
                <a:schemeClr val="accent3"/>
              </a:solidFill>
              <a:latin typeface="Average"/>
              <a:ea typeface="Average"/>
              <a:cs typeface="Average"/>
              <a:sym typeface="Averag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 </a:t>
            </a:r>
            <a:endParaRPr/>
          </a:p>
        </p:txBody>
      </p:sp>
      <p:sp>
        <p:nvSpPr>
          <p:cNvPr id="145" name="Google Shape;145;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b="1" lang="en"/>
              <a:t>Wang, W. (2024, April 14). Chapter 1: Public Views on Marriage. Pew Research Center. </a:t>
            </a:r>
            <a:r>
              <a:rPr b="1" lang="en" u="sng">
                <a:solidFill>
                  <a:schemeClr val="hlink"/>
                </a:solidFill>
                <a:hlinkClick r:id="rId3"/>
              </a:rPr>
              <a:t>https://www.pewresearch.org/social-trends/2014/09/24/chapter-1-public-views-on-marriage/</a:t>
            </a:r>
            <a:r>
              <a:rPr b="1" lang="en"/>
              <a:t> </a:t>
            </a:r>
            <a:endParaRPr b="1"/>
          </a:p>
          <a:p>
            <a:pPr indent="0" lvl="0" marL="0" rtl="0" algn="l">
              <a:spcBef>
                <a:spcPts val="1200"/>
              </a:spcBef>
              <a:spcAft>
                <a:spcPts val="0"/>
              </a:spcAft>
              <a:buNone/>
            </a:pPr>
            <a:r>
              <a:rPr b="1" lang="en"/>
              <a:t>Martin, J., Hamilton, B., &amp; Osterman, M. (2024). Births in the United States, 2023. </a:t>
            </a:r>
            <a:r>
              <a:rPr b="1" lang="en" u="sng">
                <a:solidFill>
                  <a:schemeClr val="hlink"/>
                </a:solidFill>
                <a:hlinkClick r:id="rId4"/>
              </a:rPr>
              <a:t>https://doi.org/10.15620/cdc/158789</a:t>
            </a:r>
            <a:endParaRPr b="1"/>
          </a:p>
          <a:p>
            <a:pPr indent="0" lvl="0" marL="0" rtl="0" algn="l">
              <a:spcBef>
                <a:spcPts val="1200"/>
              </a:spcBef>
              <a:spcAft>
                <a:spcPts val="0"/>
              </a:spcAft>
              <a:buNone/>
            </a:pPr>
            <a:r>
              <a:rPr b="1" lang="en"/>
              <a:t>Marriages in the US are on the decline. Here’s why. (2020, February 7). World Economic Forum. </a:t>
            </a:r>
            <a:r>
              <a:rPr b="1" lang="en" u="sng">
                <a:solidFill>
                  <a:schemeClr val="hlink"/>
                </a:solidFill>
                <a:hlinkClick r:id="rId5"/>
              </a:rPr>
              <a:t>https://www.weforum.org/agenda/2018/11/what-upticks-in-u-s-economic-inequality-and-incarceration-mean-for-marriage/</a:t>
            </a:r>
            <a:endParaRPr b="1"/>
          </a:p>
          <a:p>
            <a:pPr indent="0" lvl="0" marL="0" rtl="0" algn="l">
              <a:spcBef>
                <a:spcPts val="1200"/>
              </a:spcBef>
              <a:spcAft>
                <a:spcPts val="0"/>
              </a:spcAft>
              <a:buNone/>
            </a:pPr>
            <a:r>
              <a:rPr b="1" lang="en"/>
              <a:t>Mitchell, T., &amp; Mitchell, T. (2024, April 14). 1. The landscape of marriage and cohabitation in the U.S. Pew Research Center. </a:t>
            </a:r>
            <a:r>
              <a:rPr b="1" lang="en" u="sng">
                <a:solidFill>
                  <a:schemeClr val="hlink"/>
                </a:solidFill>
                <a:hlinkClick r:id="rId6"/>
              </a:rPr>
              <a:t>https://www.pewresearch.org/social-trends/2019/11/06/the-landscape-of-marriage-and-cohabitation-in-the-u-s/#:~:text=Over%20the%20past%20few%20decades%2C%20marriage%20rates%20have,these%20age%20groups%20were%2068%25%20and%2065%25%2C%20respectively</a:t>
            </a:r>
            <a:r>
              <a:rPr b="1" lang="en"/>
              <a:t>.</a:t>
            </a:r>
            <a:endParaRPr b="1"/>
          </a:p>
          <a:p>
            <a:pPr indent="0" lvl="0" marL="0" rtl="0" algn="l">
              <a:spcBef>
                <a:spcPts val="1200"/>
              </a:spcBef>
              <a:spcAft>
                <a:spcPts val="0"/>
              </a:spcAft>
              <a:buNone/>
            </a:pPr>
            <a:r>
              <a:rPr b="1" lang="en" u="sng">
                <a:solidFill>
                  <a:schemeClr val="hlink"/>
                </a:solidFill>
                <a:hlinkClick r:id="rId7"/>
              </a:rPr>
              <a:t>https://www.census.gov/content/dam/Census/library/visualizations/time-series/demo/families-and-households/ms-2.pdf</a:t>
            </a:r>
            <a:endParaRPr b="1"/>
          </a:p>
          <a:p>
            <a:pPr indent="0" lvl="0" marL="0" rtl="0" algn="l">
              <a:spcBef>
                <a:spcPts val="1200"/>
              </a:spcBef>
              <a:spcAft>
                <a:spcPts val="1200"/>
              </a:spcAft>
              <a:buNone/>
            </a:pPr>
            <a:r>
              <a:rPr b="1" lang="en" u="sng">
                <a:solidFill>
                  <a:schemeClr val="hlink"/>
                </a:solidFill>
                <a:hlinkClick r:id="rId8"/>
              </a:rPr>
              <a:t>https://data.census.gov/mdat/#/search?ds=ACSPUMS5Y2022&amp;vv=AGEP(0,18:56)&amp;cv=MAR,MARHM,FER&amp;rv=SCHL,ucgid&amp;nv=POBP&amp;wt=PWGTP&amp;g=0400000US36,50</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